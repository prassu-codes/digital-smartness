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231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228600"/>
            <a:ext cx="2057400" cy="13548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1847088"/>
            <a:ext cx="603504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4300" b="1" i="0">
                <a:solidFill>
                  <a:srgbClr val="FFFFFF"/>
                </a:solidFill>
                <a:latin typeface="Arial"/>
              </a:rPr>
              <a:t>AI
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310128"/>
            <a:ext cx="57607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For 9th &amp; 10th Class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858768"/>
            <a:ext cx="53949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300" b="1" i="0">
                <a:solidFill>
                  <a:srgbClr val="FF6FAE"/>
                </a:solidFill>
                <a:latin typeface="Arial"/>
              </a:rPr>
              <a:t>Your Study Sidekick —
NOT Your Shortcut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0"/>
            <a:ext cx="5285232" cy="662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13648" y="932688"/>
            <a:ext cx="1920240" cy="3246120"/>
          </a:xfrm>
          <a:prstGeom prst="roundRect">
            <a:avLst/>
          </a:prstGeom>
          <a:solidFill>
            <a:srgbClr val="2C1B6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23376" y="1097280"/>
            <a:ext cx="1700784" cy="2916936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0616" y="99669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87968" y="14356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8048" y="14356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68128" y="14356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87968" y="202996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28048" y="202996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68128" y="202996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87968" y="262432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8048" y="262432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68128" y="262432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60" y="4085081"/>
            <a:ext cx="1261872" cy="998981"/>
          </a:xfrm>
          <a:prstGeom prst="roundRect">
            <a:avLst/>
          </a:prstGeom>
          <a:solidFill>
            <a:srgbClr val="584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41640" y="3822191"/>
            <a:ext cx="883310" cy="609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0406" y="4011472"/>
            <a:ext cx="136702" cy="136702"/>
          </a:xfrm>
          <a:prstGeom prst="ellipse">
            <a:avLst/>
          </a:prstGeom>
          <a:solidFill>
            <a:srgbClr val="2C1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09483" y="4011472"/>
            <a:ext cx="136702" cy="136702"/>
          </a:xfrm>
          <a:prstGeom prst="ellipse">
            <a:avLst/>
          </a:prstGeom>
          <a:solidFill>
            <a:srgbClr val="2C1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030718" y="4263847"/>
            <a:ext cx="178765" cy="0"/>
          </a:xfrm>
          <a:prstGeom prst="line">
            <a:avLst/>
          </a:prstGeom>
          <a:ln w="25400">
            <a:solidFill>
              <a:srgbClr val="2C1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326172" y="4400550"/>
            <a:ext cx="231344" cy="241858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09076" y="4400550"/>
            <a:ext cx="231343" cy="241858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715250" y="5084064"/>
            <a:ext cx="178765" cy="262889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93608" y="5084064"/>
            <a:ext cx="178765" cy="262889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02368" y="4069080"/>
            <a:ext cx="1691640" cy="74980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30384" y="4187952"/>
            <a:ext cx="14447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ASK • LEARN • CREATE</a:t>
            </a:r>
          </a:p>
        </p:txBody>
      </p:sp>
      <p:sp>
        <p:nvSpPr>
          <p:cNvPr id="31" name="Oval 30"/>
          <p:cNvSpPr/>
          <p:nvPr/>
        </p:nvSpPr>
        <p:spPr>
          <a:xfrm>
            <a:off x="7360920" y="960120"/>
            <a:ext cx="548640" cy="548640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1024128"/>
            <a:ext cx="548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0" i="0">
                <a:solidFill>
                  <a:srgbClr val="483A91"/>
                </a:solidFill>
                <a:latin typeface="Arial"/>
              </a:rP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5257800"/>
            <a:ext cx="434340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483A91"/>
                </a:solidFill>
                <a:latin typeface="Arial"/>
              </a:rPr>
              <a:t>Be smart. Be curious.
Be in control.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64008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483A91"/>
                </a:solidFill>
                <a:latin typeface="Arial"/>
              </a:rPr>
              <a:t>HOW MUCH AI IS
ALREADY IN YOUR 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84831"/>
            <a:ext cx="4937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483A91"/>
                </a:solidFill>
                <a:latin typeface="Arial"/>
              </a:rPr>
              <a:t>SHOW OF HANDS — BE HONEST! 👀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743200"/>
            <a:ext cx="420624" cy="420624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79776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724912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C1923"/>
                </a:solidFill>
                <a:latin typeface="Arial"/>
              </a:rPr>
              <a:t>Used a smartphone today?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493008"/>
            <a:ext cx="420624" cy="420624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529584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474720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C1923"/>
                </a:solidFill>
                <a:latin typeface="Arial"/>
              </a:rPr>
              <a:t>Watched YouTube / Reels?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242816"/>
            <a:ext cx="420624" cy="420624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224528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C1923"/>
                </a:solidFill>
                <a:latin typeface="Arial"/>
              </a:rPr>
              <a:t>Played an online game?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4992624"/>
            <a:ext cx="420624" cy="420624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974336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C1923"/>
                </a:solidFill>
                <a:latin typeface="Arial"/>
              </a:rPr>
              <a:t>Used AI for study?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572768"/>
            <a:ext cx="3611880" cy="4251960"/>
          </a:xfrm>
          <a:prstGeom prst="roundRect">
            <a:avLst/>
          </a:prstGeom>
          <a:solidFill>
            <a:srgbClr val="48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1874519"/>
            <a:ext cx="292608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YOUR 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606040"/>
            <a:ext cx="292608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Find out how
AI is already
working around you.</a:t>
            </a:r>
          </a:p>
        </p:txBody>
      </p:sp>
      <p:sp>
        <p:nvSpPr>
          <p:cNvPr id="23" name="Oval 22"/>
          <p:cNvSpPr/>
          <p:nvPr/>
        </p:nvSpPr>
        <p:spPr>
          <a:xfrm>
            <a:off x="8458200" y="3931920"/>
            <a:ext cx="1463040" cy="146304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151376"/>
            <a:ext cx="146304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5440680"/>
            <a:ext cx="3200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6FAE"/>
                </a:solidFill>
                <a:latin typeface="Arial"/>
              </a:rPr>
              <a:t>NO WRONG 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INTERACTION • Students vote with hands / move to the left or right side of the room.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96112"/>
            <a:ext cx="56692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SO… WHAT IS 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38528"/>
            <a:ext cx="51663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rial"/>
              </a:rPr>
              <a:t>AI = technology that learns patterns from data
and uses them to make useful predictions,
recommendations or creations.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3090672"/>
            <a:ext cx="1508760" cy="365760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108960"/>
            <a:ext cx="1508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IN SIMPLE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593592"/>
            <a:ext cx="484632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“You show it lots of examples →
it learns patterns → it makes a smart guess.”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371600"/>
            <a:ext cx="4434840" cy="406908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89620" y="2948940"/>
            <a:ext cx="914400" cy="914400"/>
          </a:xfrm>
          <a:prstGeom prst="ellipse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9620" y="3086100"/>
            <a:ext cx="91440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14" name="Oval 13"/>
          <p:cNvSpPr/>
          <p:nvPr/>
        </p:nvSpPr>
        <p:spPr>
          <a:xfrm>
            <a:off x="7208215" y="2047341"/>
            <a:ext cx="438912" cy="438912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8215" y="2093061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📚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427671" y="2266797"/>
            <a:ext cx="1419149" cy="1139343"/>
          </a:xfrm>
          <a:prstGeom prst="line">
            <a:avLst/>
          </a:prstGeom>
          <a:ln w="20320">
            <a:solidFill>
              <a:srgbClr val="584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514332" y="1884578"/>
            <a:ext cx="438912" cy="438912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14332" y="1930298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846820" y="2104034"/>
            <a:ext cx="886968" cy="1302106"/>
          </a:xfrm>
          <a:prstGeom prst="line">
            <a:avLst/>
          </a:prstGeom>
          <a:ln w="20320">
            <a:solidFill>
              <a:srgbClr val="584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135209" y="3268065"/>
            <a:ext cx="438912" cy="438912"/>
          </a:xfrm>
          <a:prstGeom prst="ellipse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5209" y="3313785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🔎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46820" y="3406140"/>
            <a:ext cx="1507845" cy="81381"/>
          </a:xfrm>
          <a:prstGeom prst="line">
            <a:avLst/>
          </a:prstGeom>
          <a:ln w="20320">
            <a:solidFill>
              <a:srgbClr val="584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163866" y="3878427"/>
            <a:ext cx="438912" cy="438912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3866" y="3924147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383322" y="3406140"/>
            <a:ext cx="1463498" cy="691743"/>
          </a:xfrm>
          <a:prstGeom prst="line">
            <a:avLst/>
          </a:prstGeom>
          <a:ln w="20320">
            <a:solidFill>
              <a:srgbClr val="584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59544" y="4285335"/>
            <a:ext cx="438912" cy="438912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9544" y="4331055"/>
            <a:ext cx="4389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46820" y="3406140"/>
            <a:ext cx="532180" cy="1098651"/>
          </a:xfrm>
          <a:prstGeom prst="line">
            <a:avLst/>
          </a:prstGeom>
          <a:ln w="20320">
            <a:solidFill>
              <a:srgbClr val="584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ASK THE ROOM • “Is a calculator AI?” → Let them argue before revealing the answer.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65836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483A91"/>
                </a:solidFill>
                <a:latin typeface="Arial"/>
              </a:rPr>
              <a:t>HOW DOES AI “LEARN”?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48840"/>
            <a:ext cx="2971800" cy="278892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359152"/>
            <a:ext cx="566928" cy="566928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59736"/>
            <a:ext cx="5669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3172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483A91"/>
                </a:solidFill>
                <a:latin typeface="Arial"/>
              </a:rPr>
              <a:t>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035808"/>
            <a:ext cx="23774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C1923"/>
                </a:solidFill>
                <a:latin typeface="Arial"/>
              </a:rPr>
              <a:t>Lots of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730752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0" i="0">
                <a:solidFill>
                  <a:srgbClr val="483A91"/>
                </a:solidFill>
                <a:latin typeface="Arial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3154680"/>
            <a:ext cx="457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ED3E97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48840"/>
            <a:ext cx="2971800" cy="278892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09160" y="2359152"/>
            <a:ext cx="566928" cy="566928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59736"/>
            <a:ext cx="5669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3172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483A91"/>
                </a:solidFill>
                <a:latin typeface="Arial"/>
              </a:rPr>
              <a:t>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035808"/>
            <a:ext cx="23774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C1923"/>
                </a:solidFill>
                <a:latin typeface="Arial"/>
              </a:rPr>
              <a:t>Finds what repeats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3730752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0" i="0">
                <a:solidFill>
                  <a:srgbClr val="483A91"/>
                </a:solidFill>
                <a:latin typeface="Arial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2" y="3154680"/>
            <a:ext cx="457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ED3E9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148840"/>
            <a:ext cx="2971800" cy="278892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2359152"/>
            <a:ext cx="566928" cy="566928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459736"/>
            <a:ext cx="56692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331720"/>
            <a:ext cx="1828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483A91"/>
                </a:solidFill>
                <a:latin typeface="Arial"/>
              </a:rP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3035808"/>
            <a:ext cx="23774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1C1923"/>
                </a:solidFill>
                <a:latin typeface="Arial"/>
              </a:rPr>
              <a:t>Makes a useful guess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3730752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0" i="0">
                <a:solidFill>
                  <a:srgbClr val="483A91"/>
                </a:solidFill>
                <a:latin typeface="Arial"/>
              </a:rPr>
              <a:t>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MINI GAME • “If AI sees 1,000 cat photos, what might it learn to recognize?”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868680"/>
            <a:ext cx="56692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AI IS ALREADY
AROUND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148840"/>
            <a:ext cx="4892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You may use AI every day without calling it “AI”.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743200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862072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3464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YouTube / music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27248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Recommendations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743200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5" y="2862072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27248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Routes &amp;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675887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794759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67327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Face unlock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59935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Face recognition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675887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1335" y="3794759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67327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Voice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59935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Speech understanding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608576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4727448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700016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Games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92624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Adaptive opponents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608576"/>
            <a:ext cx="2487168" cy="74980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31335" y="4727448"/>
            <a:ext cx="384048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700016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Filters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992624"/>
            <a:ext cx="1737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D2CCF0"/>
                </a:solidFill>
                <a:latin typeface="Arial"/>
              </a:rPr>
              <a:t>Image effects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1572768"/>
            <a:ext cx="1828800" cy="3246120"/>
          </a:xfrm>
          <a:prstGeom prst="roundRect">
            <a:avLst/>
          </a:prstGeom>
          <a:solidFill>
            <a:srgbClr val="2C1B6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62088" y="1737360"/>
            <a:ext cx="1609344" cy="2916936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93608" y="163677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26680" y="207568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1040" y="207568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15400" y="207568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26680" y="267004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21040" y="267004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5400" y="267004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26680" y="32644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21040" y="32644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15400" y="3264408"/>
            <a:ext cx="292608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46920" y="2103120"/>
            <a:ext cx="1097280" cy="1097280"/>
          </a:xfrm>
          <a:prstGeom prst="ellipse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2267712"/>
            <a:ext cx="1097280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098280" y="2651760"/>
            <a:ext cx="548640" cy="1828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12680" y="3200400"/>
            <a:ext cx="685800" cy="77723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424160" y="3794760"/>
            <a:ext cx="594360" cy="594360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24160" y="3904487"/>
            <a:ext cx="594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0" i="0">
                <a:solidFill>
                  <a:srgbClr val="483A91"/>
                </a:solidFill>
                <a:latin typeface="Arial"/>
              </a:rPr>
              <a:t>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CHALLENGE • “Name ONE app you used today that probably uses AI.”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41248"/>
            <a:ext cx="73152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483A91"/>
                </a:solidFill>
                <a:latin typeface="Arial"/>
              </a:rPr>
              <a:t>4 TYPES OF AI YOU
ACTUALLY NEED TO KNOW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93392"/>
            <a:ext cx="4709160" cy="160020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176272"/>
            <a:ext cx="530352" cy="530352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5856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57984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483A91"/>
                </a:solidFill>
                <a:latin typeface="Arial"/>
              </a:rPr>
              <a:t>NARROW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05456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C1923"/>
                </a:solidFill>
                <a:latin typeface="Arial"/>
              </a:rPr>
              <a:t>Does one job really well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99232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25E6C"/>
                </a:solidFill>
                <a:latin typeface="Arial"/>
              </a:rPr>
              <a:t>Maps • recommendations • face unlock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93392"/>
            <a:ext cx="4709160" cy="160020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63640" y="2176272"/>
            <a:ext cx="530352" cy="530352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5856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57984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483A91"/>
                </a:solidFill>
                <a:latin typeface="Arial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505456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C1923"/>
                </a:solidFill>
                <a:latin typeface="Arial"/>
              </a:rPr>
              <a:t>Creates new text, images, audio or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99232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25E6C"/>
                </a:solidFill>
                <a:latin typeface="Arial"/>
              </a:rPr>
              <a:t>ChatGPT • Gemini • image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59352"/>
            <a:ext cx="4709160" cy="160020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4142232"/>
            <a:ext cx="530352" cy="530352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2452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23944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483A91"/>
                </a:solidFill>
                <a:latin typeface="Arial"/>
              </a:rPr>
              <a:t>VISION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71416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C1923"/>
                </a:solidFill>
                <a:latin typeface="Arial"/>
              </a:rPr>
              <a:t>Understands images / video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965192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25E6C"/>
                </a:solidFill>
                <a:latin typeface="Arial"/>
              </a:rPr>
              <a:t>Lens • face detection • 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959352"/>
            <a:ext cx="4709160" cy="160020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3640" y="4142232"/>
            <a:ext cx="530352" cy="530352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22452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123944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483A91"/>
                </a:solidFill>
                <a:latin typeface="Arial"/>
              </a:rPr>
              <a:t>VOICE &amp; LANGUAGE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471416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C1923"/>
                </a:solidFill>
                <a:latin typeface="Arial"/>
              </a:rPr>
              <a:t>Understands or generates language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965192"/>
            <a:ext cx="3520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625E6C"/>
                </a:solidFill>
                <a:latin typeface="Arial"/>
              </a:rPr>
              <a:t>Speech-to-text • translation • voice assistants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REMEMBER • You do NOT need “AGI” or advanced math to start using AI wisely.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868680"/>
            <a:ext cx="731520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AI FOR STUDYING:
BEFORE • DURING • AFTER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48840"/>
            <a:ext cx="2880360" cy="3063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2395728"/>
            <a:ext cx="1143000" cy="310896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14016"/>
            <a:ext cx="11430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907792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56432"/>
            <a:ext cx="2423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77639"/>
            <a:ext cx="24231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E6E2F8"/>
                </a:solidFill>
                <a:latin typeface="Arial"/>
              </a:rPr>
              <a:t>Make a study plan
Turn a chapter into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2" y="3246120"/>
            <a:ext cx="502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FF6FAE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148840"/>
            <a:ext cx="2880360" cy="3063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2395728"/>
            <a:ext cx="1143000" cy="310896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414016"/>
            <a:ext cx="11430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DURING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907792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456432"/>
            <a:ext cx="2423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977639"/>
            <a:ext cx="24231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E6E2F8"/>
                </a:solidFill>
                <a:latin typeface="Arial"/>
              </a:rPr>
              <a:t>Explain a tough topic
Give examples / analogies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8352" y="3246120"/>
            <a:ext cx="502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 i="0">
                <a:solidFill>
                  <a:srgbClr val="FF6FAE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148840"/>
            <a:ext cx="2880360" cy="3063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2395728"/>
            <a:ext cx="1143000" cy="310896"/>
          </a:xfrm>
          <a:prstGeom prst="roundRect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14016"/>
            <a:ext cx="11430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907792"/>
            <a:ext cx="2377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56432"/>
            <a:ext cx="2423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Practise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977639"/>
            <a:ext cx="24231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E6E2F8"/>
                </a:solidFill>
                <a:latin typeface="Arial"/>
              </a:rPr>
              <a:t>Quiz me
Find gaps &amp; revise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RULE OF 3 • Ask AI to EXPLAIN → TEST → GIVE FEEDBACK. Don’t just ask for the final answer.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68580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483A91"/>
                </a:solidFill>
                <a:latin typeface="Arial"/>
              </a:rPr>
              <a:t>YOUR AI STUDY TOOLBOX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130552"/>
            <a:ext cx="502920" cy="50292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945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1305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Explain • quiz • brainstorm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9659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30752" y="2130552"/>
            <a:ext cx="502920" cy="502920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21945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1305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157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Explain • research •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9659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1" y="2130552"/>
            <a:ext cx="502920" cy="502920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1" y="21945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21305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Perplexity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Research with sources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9659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08591" y="2130552"/>
            <a:ext cx="502920" cy="502920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1" y="21945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7" y="21305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NotebookLM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27157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Ask questions about your notes / PDFs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7947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" y="3959352"/>
            <a:ext cx="502920" cy="502920"/>
          </a:xfrm>
          <a:prstGeom prst="ellipse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0233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39593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Canva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5445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Posters • slides • visuals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7947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30752" y="3959352"/>
            <a:ext cx="502920" cy="502920"/>
          </a:xfrm>
          <a:prstGeom prst="ellipse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0752" y="40233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39593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Grammarly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39" y="45445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Writing &amp; grammar feedback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79" y="37947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19671" y="3959352"/>
            <a:ext cx="502920" cy="50292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1" y="40233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39593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Photomath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45445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Step-by-step maths help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3999" y="3794760"/>
            <a:ext cx="2487168" cy="1481328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308591" y="3959352"/>
            <a:ext cx="502920" cy="502920"/>
          </a:xfrm>
          <a:prstGeom prst="ellipse">
            <a:avLst/>
          </a:prstGeom>
          <a:solidFill>
            <a:srgbClr val="F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1" y="4023360"/>
            <a:ext cx="5029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7" y="3959352"/>
            <a:ext cx="1554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483A91"/>
                </a:solidFill>
                <a:latin typeface="Arial"/>
              </a:rPr>
              <a:t>Google Lens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79" y="4544568"/>
            <a:ext cx="210312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1C1923"/>
                </a:solidFill>
                <a:latin typeface="Arial"/>
              </a:rPr>
              <a:t>Search / read / translate images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SMART CHOICE • Use the tool that matches the task. “AI” is a toolbox, not one app.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859536"/>
            <a:ext cx="676656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PROMPTING 101:
TALK TO AI LIKE A 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057400"/>
            <a:ext cx="4297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rial"/>
              </a:rPr>
              <a:t>Better input → better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97480"/>
            <a:ext cx="4937760" cy="56692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15568" y="2807208"/>
            <a:ext cx="914400" cy="329184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825496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807208"/>
            <a:ext cx="3429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“Act as a science tutor”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410712"/>
            <a:ext cx="4937760" cy="56692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5568" y="3520440"/>
            <a:ext cx="914400" cy="329184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538728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520440"/>
            <a:ext cx="3429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“Explain photosynthesis”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23944"/>
            <a:ext cx="4937760" cy="56692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5568" y="4233672"/>
            <a:ext cx="914400" cy="329184"/>
          </a:xfrm>
          <a:prstGeom prst="roundRect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251959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233672"/>
            <a:ext cx="3429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“I’m in Class 9”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837176"/>
            <a:ext cx="4937760" cy="56692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15568" y="4946904"/>
            <a:ext cx="914400" cy="329184"/>
          </a:xfrm>
          <a:prstGeom prst="roundRect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965192"/>
            <a:ext cx="9144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2C1B62"/>
                </a:solidFill>
                <a:latin typeface="Arial"/>
              </a:rPr>
              <a:t>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946904"/>
            <a:ext cx="3429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“Use a simple analogy + 3 quiz questions”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691640"/>
            <a:ext cx="443484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965960"/>
            <a:ext cx="3703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483A91"/>
                </a:solidFill>
                <a:latin typeface="Arial"/>
              </a:rPr>
              <a:t>TRY THIS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2606040"/>
            <a:ext cx="3566160" cy="214884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816352"/>
            <a:ext cx="3063240" cy="1691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700" b="1" i="0">
                <a:solidFill>
                  <a:srgbClr val="1C1923"/>
                </a:solidFill>
                <a:latin typeface="Arial"/>
              </a:rPr>
              <a:t>“Act as my Class 10
math tutor. Explain
quadratic equations
in simple language,
then quiz me.”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PAIR ACTIVITY • Improve a boring prompt: “Tell me about electricity.”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59436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483A91"/>
                </a:solidFill>
                <a:latin typeface="Arial"/>
              </a:rPr>
              <a:t>PROMPT GLOW-UP 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57400"/>
            <a:ext cx="4709160" cy="3246120"/>
          </a:xfrm>
          <a:prstGeom prst="roundRect">
            <a:avLst/>
          </a:prstGeom>
          <a:solidFill>
            <a:srgbClr val="FD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2331720"/>
            <a:ext cx="1325880" cy="365760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50008"/>
            <a:ext cx="13258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😴 TOO VAGUE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71800"/>
            <a:ext cx="416052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600" b="1" i="0">
                <a:solidFill>
                  <a:srgbClr val="483A91"/>
                </a:solidFill>
                <a:latin typeface="Arial"/>
              </a:rPr>
              <a:t>“Explain gravity.”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60520"/>
            <a:ext cx="41605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625E6C"/>
                </a:solidFill>
                <a:latin typeface="Arial"/>
              </a:rPr>
              <a:t>AI has to guess your level, goal and format.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57400"/>
            <a:ext cx="4709160" cy="3246120"/>
          </a:xfrm>
          <a:prstGeom prst="roundRect">
            <a:avLst/>
          </a:prstGeom>
          <a:solidFill>
            <a:srgbClr val="EFFA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2331720"/>
            <a:ext cx="1097280" cy="365760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50008"/>
            <a:ext cx="10972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🔥 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852928"/>
            <a:ext cx="4069080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483A91"/>
                </a:solidFill>
                <a:latin typeface="Arial"/>
              </a:rPr>
              <a:t>“Explain gravity to a Class 9 student using a
cricket example, then give me 3 questions
without answers.”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526280"/>
            <a:ext cx="4069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625E6C"/>
                </a:solidFill>
                <a:latin typeface="Arial"/>
              </a:rPr>
              <a:t>Specific + simple + useful = better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VOTE • Which prompt would YOU rather use? A = vague / B = specific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56692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AI OR HUMAN? 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4754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I’ll show a task. You shout: “AI!”, “HUMAN!” or “BOTH!”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606040"/>
            <a:ext cx="5623560" cy="47548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79192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Solve 2 + 2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679192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22CBD5"/>
                </a:solidFill>
                <a:latin typeface="Arial"/>
              </a:rPr>
              <a:t>HUMAN / AI / BOTH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227832"/>
            <a:ext cx="5623560" cy="47548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300984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Recommend a song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00984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22CBD5"/>
                </a:solidFill>
                <a:latin typeface="Arial"/>
              </a:rPr>
              <a:t>AI / BOTH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849624"/>
            <a:ext cx="5623560" cy="47548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922776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Decide if your friend is upset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922776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22CBD5"/>
                </a:solidFill>
                <a:latin typeface="Arial"/>
              </a:rPr>
              <a:t>HUMAN / BOTH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4471416"/>
            <a:ext cx="5623560" cy="47548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44568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Generate a poster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544568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22CBD5"/>
                </a:solidFill>
                <a:latin typeface="Arial"/>
              </a:rPr>
              <a:t>AI / BOTH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5093208"/>
            <a:ext cx="5623560" cy="475488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166360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Choose what matters to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16636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200" b="1" i="0">
                <a:solidFill>
                  <a:srgbClr val="22CBD5"/>
                </a:solidFill>
                <a:latin typeface="Arial"/>
              </a:rPr>
              <a:t>HUMAN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1828800"/>
            <a:ext cx="1645920" cy="164592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075688"/>
            <a:ext cx="1645920" cy="9052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Arial"/>
              </a:rPr>
              <a:t>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657600"/>
            <a:ext cx="2103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AI =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331720"/>
            <a:ext cx="10972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FF6FAE"/>
                </a:solidFill>
                <a:latin typeface="Arial"/>
              </a:rPr>
              <a:t>VS</a:t>
            </a:r>
          </a:p>
        </p:txBody>
      </p:sp>
      <p:sp>
        <p:nvSpPr>
          <p:cNvPr id="27" name="Oval 26"/>
          <p:cNvSpPr/>
          <p:nvPr/>
        </p:nvSpPr>
        <p:spPr>
          <a:xfrm>
            <a:off x="9509760" y="2880360"/>
            <a:ext cx="1371600" cy="1371600"/>
          </a:xfrm>
          <a:prstGeom prst="ellipse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3227832"/>
            <a:ext cx="13716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BIG IDEA • AI can help with tasks. YOU still make the important decisions.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80467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483A91"/>
                </a:solidFill>
                <a:latin typeface="Arial"/>
              </a:rPr>
              <a:t>AI CAN BE CONFIDENTLY WRONG 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4800600" cy="3429000"/>
          </a:xfrm>
          <a:prstGeom prst="roundRect">
            <a:avLst/>
          </a:prstGeom>
          <a:solidFill>
            <a:srgbClr val="48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41605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“It sounds confident… so it must be true.”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41605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Arial"/>
              </a:rPr>
              <a:t>NOPE. ❌
AI can invent facts, sources,
quotes, dates or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709160" cy="342900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20840" y="2267712"/>
            <a:ext cx="1051560" cy="365760"/>
          </a:xfrm>
          <a:prstGeom prst="roundRect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86000"/>
            <a:ext cx="1051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VERIFY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834640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483A91"/>
                </a:solidFill>
                <a:latin typeface="Arial"/>
              </a:rP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34640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Textbook / class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01568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483A91"/>
                </a:solidFill>
                <a:latin typeface="Arial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401568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Trusted source / official 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968496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483A91"/>
                </a:solidFill>
                <a:latin typeface="Arial"/>
              </a:rPr>
              <a:t>👩‍🏫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968496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Teacher / 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535424"/>
            <a:ext cx="38404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0" i="0">
                <a:solidFill>
                  <a:srgbClr val="483A91"/>
                </a:solidFill>
                <a:latin typeface="Arial"/>
              </a:rPr>
              <a:t>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535424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Do the calculation yourself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3-SECOND CHECK • “Could this answer be wrong?” → If YES, VERIFY.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59436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THE AI-SMART RULE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1920240"/>
            <a:ext cx="502920" cy="50292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2C1B62"/>
                </a:solidFill>
                <a:latin typeface="Arial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938528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STOP &amp; THINK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38528"/>
            <a:ext cx="54406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Do I really need AI for this?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2724912"/>
            <a:ext cx="502920" cy="502920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3464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2C1B62"/>
                </a:solidFill>
                <a:latin typeface="Arial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743200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MAKE AI YOUR HELPER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43200"/>
            <a:ext cx="54406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Use it to learn — not replace your thinking.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529584"/>
            <a:ext cx="502920" cy="502920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639312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2C1B62"/>
                </a:solidFill>
                <a:latin typeface="Arial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547872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AVOID PRIVATE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47872"/>
            <a:ext cx="54406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No passwords, OTPs, addresses or private photos.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334256"/>
            <a:ext cx="502920" cy="502920"/>
          </a:xfrm>
          <a:prstGeom prst="ellipse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44398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2C1B62"/>
                </a:solidFill>
                <a:latin typeface="Arial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352544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REVIEW THE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352544"/>
            <a:ext cx="54406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Check important facts before trusting them.</a:t>
            </a:r>
          </a:p>
        </p:txBody>
      </p:sp>
      <p:sp>
        <p:nvSpPr>
          <p:cNvPr id="23" name="Oval 22"/>
          <p:cNvSpPr/>
          <p:nvPr/>
        </p:nvSpPr>
        <p:spPr>
          <a:xfrm>
            <a:off x="987552" y="5138928"/>
            <a:ext cx="502920" cy="502920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248656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2C1B62"/>
                </a:solidFill>
                <a:latin typeface="Arial"/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5157216"/>
            <a:ext cx="25146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THINK FOR YOURSELF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157216"/>
            <a:ext cx="54406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Your brain still gets the final vote.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874519"/>
            <a:ext cx="1143000" cy="342900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2148840"/>
            <a:ext cx="640080" cy="2651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S
M
A
R
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MEMORY TRICK • If you remember only one slide, remember SMART.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7498079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483A91"/>
                </a:solidFill>
                <a:latin typeface="Arial"/>
              </a:rPr>
              <a:t>WHAT SHOULD NEVER GO
INTO AN AI CHAT?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5915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31343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Passwords / OTPs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35915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231343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Exact home address / live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4884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35915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31343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School ID / government ID numbers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56616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77647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3075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Bank / payment details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56616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377647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73075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Private or embarrassing photos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566160"/>
            <a:ext cx="3337560" cy="1078992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3776472"/>
            <a:ext cx="438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0" i="0">
                <a:solidFill>
                  <a:srgbClr val="483A91"/>
                </a:solidFill>
                <a:latin typeface="Arial"/>
              </a:rPr>
              <a:t>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3730752"/>
            <a:ext cx="233172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C1923"/>
                </a:solidFill>
                <a:latin typeface="Arial"/>
              </a:rPr>
              <a:t>Someone else’s personal information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RULE OF THUMB • If you wouldn’t post it publicly, don’t casually paste it into AI.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877824"/>
            <a:ext cx="713232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REAL, AI-GENERATED OR EDITED?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20240"/>
            <a:ext cx="4937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Arial"/>
              </a:rPr>
              <a:t>AI can now create very convincing faces, voices and videos.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06040"/>
            <a:ext cx="2788920" cy="251460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47672" y="2880360"/>
            <a:ext cx="804672" cy="804672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7672" y="3090672"/>
            <a:ext cx="804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 i="0">
                <a:solidFill>
                  <a:srgbClr val="2C1B62"/>
                </a:solidFill>
                <a:latin typeface="Arial"/>
              </a:rPr>
              <a:t>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370832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E1DCF5"/>
                </a:solidFill>
                <a:latin typeface="Arial"/>
              </a:rPr>
              <a:t>Look for context, source,
strange details &amp; mismatched audio.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2788920" cy="251460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76672" y="2880360"/>
            <a:ext cx="804672" cy="804672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3090672"/>
            <a:ext cx="804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 i="0">
                <a:solidFill>
                  <a:srgbClr val="2C1B62"/>
                </a:solidFill>
                <a:latin typeface="Arial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8862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AI-GENERATED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370832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E1DCF5"/>
                </a:solidFill>
                <a:latin typeface="Arial"/>
              </a:rPr>
              <a:t>Look for context, source,
strange details &amp; mismatched audio.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606040"/>
            <a:ext cx="2788920" cy="251460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05672" y="2880360"/>
            <a:ext cx="804672" cy="804672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3090672"/>
            <a:ext cx="80467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900" b="1" i="0">
                <a:solidFill>
                  <a:srgbClr val="2C1B62"/>
                </a:solidFill>
                <a:latin typeface="Arial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86200"/>
            <a:ext cx="2331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EDITED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370832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0" i="0">
                <a:solidFill>
                  <a:srgbClr val="E1DCF5"/>
                </a:solidFill>
                <a:latin typeface="Arial"/>
              </a:rPr>
              <a:t>Look for context, source,
strange details &amp; mismatched audio.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SPOT-THE-CLUE • “Who posted it? What is the original source? Could it be edited?”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685800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483A91"/>
                </a:solidFill>
                <a:latin typeface="Arial"/>
              </a:rPr>
              <a:t>AI + HOMEWORK:
WHERE IS THE LINE?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4754880" cy="3246120"/>
          </a:xfrm>
          <a:prstGeom prst="roundRect">
            <a:avLst/>
          </a:prstGeom>
          <a:solidFill>
            <a:srgbClr val="EE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4440" y="2304288"/>
            <a:ext cx="1325880" cy="365760"/>
          </a:xfrm>
          <a:prstGeom prst="roundRect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322576"/>
            <a:ext cx="13258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SMART USE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852928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2852928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Ask for a simpler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29184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3291840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Get extra practice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730752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30752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Brainstorm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169664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912" y="4169664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Check grammar after YOU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0857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4608576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Ask for feedback on your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011680"/>
            <a:ext cx="4754880" cy="3246120"/>
          </a:xfrm>
          <a:prstGeom prst="roundRect">
            <a:avLst/>
          </a:prstGeom>
          <a:solidFill>
            <a:srgbClr val="F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2304288"/>
            <a:ext cx="1691640" cy="365760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322576"/>
            <a:ext cx="16916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SHORTCUT / CHEATING 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852928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852928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Copy the whole AI answer as your 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3291840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3291840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Submit AI work you cannot 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3730752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730752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Use AI when your teacher says “no AI”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169664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4169664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Invent sources / facts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4608576"/>
            <a:ext cx="320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483A91"/>
                </a:solidFill>
                <a:latin typeface="Arial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4608576"/>
            <a:ext cx="3749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483A91"/>
                </a:solidFill>
                <a:latin typeface="Arial"/>
              </a:rPr>
              <a:t>Hide AI use when disclosure is required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QUESTION • “If the teacher asks you to explain your answer, could YOU explain it?”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877824"/>
            <a:ext cx="69494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AI IS NOT JUST FOR “AI ENGINEERS”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965960"/>
            <a:ext cx="4937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Almost every field will use AI in some 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0604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76148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69748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Doctor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97180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Read scans • support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60604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276148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269748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97180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Design • simulation • automation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6616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2160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65760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93192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Ideas • visuals • prototypes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56616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3048" y="372160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365760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Lawyer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9392" y="393192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Research • document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2628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68172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461772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Business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89204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Forecast • customer insights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526280"/>
            <a:ext cx="2514600" cy="77724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4681728"/>
            <a:ext cx="38404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0" i="0">
                <a:solidFill>
                  <a:srgbClr val="22CBD5"/>
                </a:solidFill>
                <a:latin typeface="Arial"/>
              </a:rPr>
              <a:t>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4617720"/>
            <a:ext cx="1783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Farmer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489204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DCD7F0"/>
                </a:solidFill>
                <a:latin typeface="Arial"/>
              </a:rPr>
              <a:t>Crop monitoring • weather insights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2148840"/>
            <a:ext cx="384048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487168"/>
            <a:ext cx="3108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483A91"/>
                </a:solidFill>
                <a:latin typeface="Arial"/>
              </a:rPr>
              <a:t>WHAT MATTERS MOST?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063240"/>
            <a:ext cx="3063240" cy="365760"/>
          </a:xfrm>
          <a:prstGeom prst="roundRect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309981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Curiosity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566160"/>
            <a:ext cx="3063240" cy="365760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360273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Communication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069080"/>
            <a:ext cx="3063240" cy="365760"/>
          </a:xfrm>
          <a:prstGeom prst="roundRect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10565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Problem solving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572000"/>
            <a:ext cx="3063240" cy="365760"/>
          </a:xfrm>
          <a:prstGeom prst="roundRect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460857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Creativity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5074920"/>
            <a:ext cx="3063240" cy="365760"/>
          </a:xfrm>
          <a:prstGeom prst="roundRect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511149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2C1B62"/>
                </a:solidFill>
                <a:latin typeface="Arial"/>
              </a:rPr>
              <a:t>Digital judgement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TAKEAWAY • You don’t have to choose your career today. Start building skills that AI cannot replace easily.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419088"/>
            <a:ext cx="457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ED3E97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658368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483A91"/>
                </a:solidFill>
                <a:latin typeface="Arial"/>
              </a:rPr>
              <a:t>30-SECOND AI CHALLENGE 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993392"/>
            <a:ext cx="5120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483A91"/>
                </a:solidFill>
                <a:latin typeface="Arial"/>
              </a:rPr>
              <a:t>In pairs: design ONE useful way AI could help a Class 10 student.</a:t>
            </a:r>
          </a:p>
        </p:txBody>
      </p:sp>
      <p:sp>
        <p:nvSpPr>
          <p:cNvPr id="8" name="Oval 7"/>
          <p:cNvSpPr/>
          <p:nvPr/>
        </p:nvSpPr>
        <p:spPr>
          <a:xfrm>
            <a:off x="7452360" y="1783080"/>
            <a:ext cx="1874519" cy="1874519"/>
          </a:xfrm>
          <a:prstGeom prst="ellipse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76272"/>
            <a:ext cx="1874519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30s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54680"/>
            <a:ext cx="1874519" cy="132588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19272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0" i="0">
                <a:solidFill>
                  <a:srgbClr val="483A91"/>
                </a:solidFill>
                <a:latin typeface="Arial"/>
              </a:rP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86791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83A91"/>
                </a:solidFill>
                <a:latin typeface="Arial"/>
              </a:rPr>
              <a:t>Study buddy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3154680"/>
            <a:ext cx="1874519" cy="132588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3319272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0" i="0">
                <a:solidFill>
                  <a:srgbClr val="483A91"/>
                </a:solidFill>
                <a:latin typeface="Arial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6791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83A91"/>
                </a:solidFill>
                <a:latin typeface="Arial"/>
              </a:rPr>
              <a:t>Quiz maker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154680"/>
            <a:ext cx="1874519" cy="132588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319272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0" i="0">
                <a:solidFill>
                  <a:srgbClr val="483A91"/>
                </a:solidFill>
                <a:latin typeface="Arial"/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86791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83A91"/>
                </a:solidFill>
                <a:latin typeface="Arial"/>
              </a:rPr>
              <a:t>Poster helper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3154680"/>
            <a:ext cx="1874519" cy="132588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3319272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0" i="0">
                <a:solidFill>
                  <a:srgbClr val="483A91"/>
                </a:solidFill>
                <a:latin typeface="Arial"/>
              </a:rPr>
              <a:t>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6791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83A91"/>
                </a:solidFill>
                <a:latin typeface="Arial"/>
              </a:rPr>
              <a:t>Speaking coach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154680"/>
            <a:ext cx="1874519" cy="1325880"/>
          </a:xfrm>
          <a:prstGeom prst="roundRect">
            <a:avLst/>
          </a:prstGeom>
          <a:solidFill>
            <a:srgbClr val="F7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3319272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100" b="0" i="0">
                <a:solidFill>
                  <a:srgbClr val="483A91"/>
                </a:solidFill>
                <a:latin typeface="Arial"/>
              </a:rPr>
              <a:t>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867912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483A91"/>
                </a:solidFill>
                <a:latin typeface="Arial"/>
              </a:rPr>
              <a:t>Experiment explainer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SHARE OUT • Ask 2 pairs to pitch their idea in 10 seconds.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625E6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28016"/>
            <a:ext cx="1042416" cy="658368"/>
          </a:xfrm>
          <a:prstGeom prst="rect">
            <a:avLst/>
          </a:prstGeom>
        </p:spPr>
      </p:pic>
      <p:pic>
        <p:nvPicPr>
          <p:cNvPr id="3" name="Picture 2" descr="stre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6304"/>
            <a:ext cx="860891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896112"/>
            <a:ext cx="59436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5 THINGS TO REMEMBER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847088"/>
            <a:ext cx="2423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AI IS A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47088"/>
            <a:ext cx="5166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Useful when YOU stay in control.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624328"/>
            <a:ext cx="502920" cy="502920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34056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42616"/>
            <a:ext cx="2423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PROMPTS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42616"/>
            <a:ext cx="5166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Be clear about task + context.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419856"/>
            <a:ext cx="502920" cy="502920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438144"/>
            <a:ext cx="2423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CHECK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438144"/>
            <a:ext cx="5166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AI can sound right and still be wrong.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215383"/>
            <a:ext cx="502920" cy="502920"/>
          </a:xfrm>
          <a:prstGeom prst="ellipse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25112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4233671"/>
            <a:ext cx="2423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PROTECT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233671"/>
            <a:ext cx="5166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Never casually share personal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" y="5010912"/>
            <a:ext cx="502920" cy="502920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5029200"/>
            <a:ext cx="24231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KEEP THINKING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029200"/>
            <a:ext cx="5166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E7E2F8"/>
                </a:solidFill>
                <a:latin typeface="Arial"/>
              </a:rPr>
              <a:t>Your brain is the main character.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828800"/>
            <a:ext cx="1280160" cy="3886200"/>
          </a:xfrm>
          <a:prstGeom prst="roundRect">
            <a:avLst/>
          </a:prstGeom>
          <a:solidFill>
            <a:srgbClr val="251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2240280"/>
            <a:ext cx="658368" cy="2606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THINK
ASK
CHECK
PROTECT
CREATE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6153912"/>
            <a:ext cx="10378440" cy="384048"/>
          </a:xfrm>
          <a:prstGeom prst="roundRect">
            <a:avLst/>
          </a:prstGeom>
          <a:solidFill>
            <a:srgbClr val="ED3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90488"/>
            <a:ext cx="1010412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SAY IT TOGETHER • “Technology should be my tool — not my controller.”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83A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" y="749808"/>
            <a:ext cx="603504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MY AI PLEDGE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490472"/>
            <a:ext cx="5440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 i="0">
                <a:solidFill>
                  <a:srgbClr val="FF6FAE"/>
                </a:solidFill>
                <a:latin typeface="Arial"/>
              </a:rPr>
              <a:t>I will use AI to learn, not to stop learning.</a:t>
            </a:r>
          </a:p>
        </p:txBody>
      </p:sp>
      <p:sp>
        <p:nvSpPr>
          <p:cNvPr id="4" name="Oval 3"/>
          <p:cNvSpPr/>
          <p:nvPr/>
        </p:nvSpPr>
        <p:spPr>
          <a:xfrm>
            <a:off x="987552" y="2240280"/>
            <a:ext cx="402336" cy="402336"/>
          </a:xfrm>
          <a:prstGeom prst="ellipse">
            <a:avLst/>
          </a:prstGeom>
          <a:solidFill>
            <a:srgbClr val="22C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304288"/>
            <a:ext cx="402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221992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 will think before I trust an AI answer.</a:t>
            </a:r>
          </a:p>
        </p:txBody>
      </p:sp>
      <p:sp>
        <p:nvSpPr>
          <p:cNvPr id="7" name="Oval 6"/>
          <p:cNvSpPr/>
          <p:nvPr/>
        </p:nvSpPr>
        <p:spPr>
          <a:xfrm>
            <a:off x="987552" y="2862072"/>
            <a:ext cx="402336" cy="402336"/>
          </a:xfrm>
          <a:prstGeom prst="ellipse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926080"/>
            <a:ext cx="402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843784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 will protect my personal information.</a:t>
            </a:r>
          </a:p>
        </p:txBody>
      </p:sp>
      <p:sp>
        <p:nvSpPr>
          <p:cNvPr id="10" name="Oval 9"/>
          <p:cNvSpPr/>
          <p:nvPr/>
        </p:nvSpPr>
        <p:spPr>
          <a:xfrm>
            <a:off x="987552" y="3483864"/>
            <a:ext cx="402336" cy="402336"/>
          </a:xfrm>
          <a:prstGeom prst="ellipse">
            <a:avLst/>
          </a:prstGeom>
          <a:solidFill>
            <a:srgbClr val="FFC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547872"/>
            <a:ext cx="402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465576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 will verify important facts.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4105656"/>
            <a:ext cx="402336" cy="402336"/>
          </a:xfrm>
          <a:prstGeom prst="ellipse">
            <a:avLst/>
          </a:prstGeom>
          <a:solidFill>
            <a:srgbClr val="75D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169664"/>
            <a:ext cx="402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4087368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 will use AI honestly in schoolwork.</a:t>
            </a:r>
          </a:p>
        </p:txBody>
      </p:sp>
      <p:sp>
        <p:nvSpPr>
          <p:cNvPr id="16" name="Oval 15"/>
          <p:cNvSpPr/>
          <p:nvPr/>
        </p:nvSpPr>
        <p:spPr>
          <a:xfrm>
            <a:off x="987552" y="4727448"/>
            <a:ext cx="402336" cy="402336"/>
          </a:xfrm>
          <a:prstGeom prst="ellipse">
            <a:avLst/>
          </a:prstGeom>
          <a:solidFill>
            <a:srgbClr val="337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791456"/>
            <a:ext cx="40233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2C1B62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709160"/>
            <a:ext cx="5212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 will stay curious — and keep my own brain switched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051560"/>
            <a:ext cx="402336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481328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483A91"/>
                </a:solidFill>
                <a:latin typeface="Arial"/>
              </a:rPr>
              <a:t>BE SMART ONLINE.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075688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ED3E97"/>
                </a:solidFill>
                <a:latin typeface="Arial"/>
              </a:rPr>
              <a:t>BE SAFE ONLINE.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670048"/>
            <a:ext cx="33375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 i="0">
                <a:solidFill>
                  <a:srgbClr val="22CBD5"/>
                </a:solidFill>
                <a:latin typeface="Arial"/>
              </a:rPr>
              <a:t>BE KIND ONLINE.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520440"/>
            <a:ext cx="30175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483A91"/>
                </a:solidFill>
                <a:latin typeface="Arial"/>
              </a:rPr>
              <a:t>AI is powerful.
YOU are responsible.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4537710"/>
            <a:ext cx="932688" cy="738378"/>
          </a:xfrm>
          <a:prstGeom prst="roundRect">
            <a:avLst/>
          </a:prstGeom>
          <a:solidFill>
            <a:srgbClr val="584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72423" y="4343400"/>
            <a:ext cx="652881" cy="4507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4554" y="4483303"/>
            <a:ext cx="101041" cy="101041"/>
          </a:xfrm>
          <a:prstGeom prst="ellipse">
            <a:avLst/>
          </a:prstGeom>
          <a:solidFill>
            <a:srgbClr val="2C1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2132" y="4483303"/>
            <a:ext cx="101041" cy="101041"/>
          </a:xfrm>
          <a:prstGeom prst="ellipse">
            <a:avLst/>
          </a:prstGeom>
          <a:solidFill>
            <a:srgbClr val="2C1B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9160002" y="4669840"/>
            <a:ext cx="132130" cy="0"/>
          </a:xfrm>
          <a:prstGeom prst="line">
            <a:avLst/>
          </a:prstGeom>
          <a:ln w="25400">
            <a:solidFill>
              <a:srgbClr val="2C1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8639251" y="4770882"/>
            <a:ext cx="170993" cy="178765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587484" y="4770882"/>
            <a:ext cx="170992" cy="178765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926830" y="5276088"/>
            <a:ext cx="132130" cy="194310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54312" y="5276088"/>
            <a:ext cx="132130" cy="194310"/>
          </a:xfrm>
          <a:prstGeom prst="line">
            <a:avLst/>
          </a:prstGeom>
          <a:ln w="38100">
            <a:solidFill>
              <a:srgbClr val="2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60120" y="6144768"/>
            <a:ext cx="54864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STREET CAUSE VIIT • Awareness Program |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91999" cy="228600"/>
          </a:xfrm>
          <a:prstGeom prst="rect">
            <a:avLst/>
          </a:prstGeom>
          <a:solidFill>
            <a:srgbClr val="F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6437376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355080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